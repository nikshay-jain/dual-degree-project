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29CAF8-49E2-445E-BE97-43D1CA31CE4D}">
  <a:tblStyle styleId="{8B29CAF8-49E2-445E-BE97-43D1CA31CE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b66c504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b66c50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b66c50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1b66c50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98d6e1d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98d6e1d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98d6e1d1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98d6e1d1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1b66c504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1b66c504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1cca9c5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1cca9c5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1b66c504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1b66c504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98d6e1d1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98d6e1d1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98d6e1d1e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98d6e1d1e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1b66c504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1b66c504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43d630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43d630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1b66c504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1b66c504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98d6e1d1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98d6e1d1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98d6e1d1e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98d6e1d1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1b66c504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1b66c504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98d6e1d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98d6e1d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gov.uk/government/publications/economic-and-social-cost-of-fraud-2023-to-2024/economic-and-social-cost-of-fraud-2023-to-2024" TargetMode="External"/><Relationship Id="rId10" Type="http://schemas.openxmlformats.org/officeDocument/2006/relationships/hyperlink" Target="https://www.uswitch.com/home-insurance/studies/home-insurance-statistics-uk/" TargetMode="External"/><Relationship Id="rId13" Type="http://schemas.openxmlformats.org/officeDocument/2006/relationships/hyperlink" Target="https://assets.publishing.service.gov.uk/media/5a7ffc5140f0b62305b887b0/PU1789_Insurance_Fraud_Taskforce_interim_report_-_final.pdf" TargetMode="External"/><Relationship Id="rId12" Type="http://schemas.openxmlformats.org/officeDocument/2006/relationships/hyperlink" Target="https://www.ukfinance.org.uk/news-and-insight/blogs/uncovering-the-real-cost-of-fraud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mordorintelligence.com/industry-reports/uk-home-insurance-market" TargetMode="External"/><Relationship Id="rId4" Type="http://schemas.openxmlformats.org/officeDocument/2006/relationships/hyperlink" Target="https://www.mordorintelligence.com/industry-reports/uk-home-insurance-market" TargetMode="External"/><Relationship Id="rId9" Type="http://schemas.openxmlformats.org/officeDocument/2006/relationships/hyperlink" Target="https://www.uswitch.com/home-insurance/studies/home-insurance-statistics-uk/" TargetMode="External"/><Relationship Id="rId5" Type="http://schemas.openxmlformats.org/officeDocument/2006/relationships/hyperlink" Target="https://store.mintel.com/report/uk-home-insurance-market-report-2024" TargetMode="External"/><Relationship Id="rId6" Type="http://schemas.openxmlformats.org/officeDocument/2006/relationships/hyperlink" Target="https://store.mintel.com/report/uk-home-insurance-market-report-2024" TargetMode="External"/><Relationship Id="rId7" Type="http://schemas.openxmlformats.org/officeDocument/2006/relationships/hyperlink" Target="https://www.confused.com/home-insurance/home-insurance-statistics" TargetMode="External"/><Relationship Id="rId8" Type="http://schemas.openxmlformats.org/officeDocument/2006/relationships/hyperlink" Target="https://www.confused.com/home-insurance/home-insurance-statistic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5249925" y="3542675"/>
            <a:ext cx="3582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595959"/>
                </a:solidFill>
              </a:rPr>
              <a:t>Presented by:</a:t>
            </a:r>
            <a:endParaRPr sz="22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595959"/>
                </a:solidFill>
              </a:rPr>
              <a:t>Dr. Nandan Sudarsanam</a:t>
            </a:r>
            <a:endParaRPr sz="22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595959"/>
                </a:solidFill>
              </a:rPr>
              <a:t>Aakash Sarraf</a:t>
            </a:r>
            <a:endParaRPr sz="22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595959"/>
                </a:solidFill>
              </a:rPr>
              <a:t>Sujal Burad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0175" y="402950"/>
            <a:ext cx="1666525" cy="10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50" y="402950"/>
            <a:ext cx="1210150" cy="12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311700" y="1786200"/>
            <a:ext cx="85206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Insurance Fraud Detection using A</a:t>
            </a:r>
            <a:r>
              <a:rPr lang="en" sz="4500"/>
              <a:t>ctive Learning</a:t>
            </a:r>
            <a:endParaRPr sz="4500">
              <a:solidFill>
                <a:srgbClr val="000000"/>
              </a:solidFill>
            </a:endParaRPr>
          </a:p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Objective + Evolution of Objectives </a:t>
            </a:r>
            <a:endParaRPr/>
          </a:p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Core Objectives:</a:t>
            </a:r>
            <a:endParaRPr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Reduce financial loss in insurance streams for on ground use-cases.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Additional Objectives:</a:t>
            </a:r>
            <a:endParaRPr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Maximize ROI on labeling, to best spend a budget of new human labels to improve models to check if “what” we label matters equally as “how many”.</a:t>
            </a:r>
            <a:endParaRPr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To capture data distribution drift by </a:t>
            </a:r>
            <a:r>
              <a:rPr lang="en">
                <a:solidFill>
                  <a:srgbClr val="222222"/>
                </a:solidFill>
              </a:rPr>
              <a:t>allowing model to "learn as it goes" &amp; refine its uncertainty with every batch.</a:t>
            </a:r>
            <a:endParaRPr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Accuracy based implementation for analysis.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Methodologies + Evolution 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152475"/>
            <a:ext cx="324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Implemented 4 strategies for uncertain points selection and compared their results across accuracy and </a:t>
            </a:r>
            <a:r>
              <a:rPr lang="en">
                <a:solidFill>
                  <a:srgbClr val="222222"/>
                </a:solidFill>
              </a:rPr>
              <a:t>financial</a:t>
            </a:r>
            <a:r>
              <a:rPr lang="en">
                <a:solidFill>
                  <a:srgbClr val="222222"/>
                </a:solidFill>
              </a:rPr>
              <a:t> cost based metric.</a:t>
            </a:r>
            <a:endParaRPr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Formulated a hybrid strategy encompassing their combination.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550" y="1152475"/>
            <a:ext cx="5334725" cy="296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</a:t>
            </a:r>
            <a:endParaRPr/>
          </a:p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distribution: Gaussian </a:t>
            </a:r>
            <a:r>
              <a:rPr lang="en"/>
              <a:t>distribution</a:t>
            </a:r>
            <a:r>
              <a:rPr lang="en"/>
              <a:t> over the [min, max] range, with random noise addition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Categorical distribution: One-hot labeling. </a:t>
            </a:r>
            <a:endParaRPr/>
          </a:p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8"/>
          <p:cNvPicPr preferRelativeResize="0"/>
          <p:nvPr/>
        </p:nvPicPr>
        <p:blipFill rotWithShape="1">
          <a:blip r:embed="rId3">
            <a:alphaModFix/>
          </a:blip>
          <a:srcRect b="32482" l="0" r="66370" t="32973"/>
          <a:stretch/>
        </p:blipFill>
        <p:spPr>
          <a:xfrm>
            <a:off x="892225" y="2249725"/>
            <a:ext cx="3283347" cy="28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4800" y="2249713"/>
            <a:ext cx="3191256" cy="272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idx="1" type="body"/>
          </p:nvPr>
        </p:nvSpPr>
        <p:spPr>
          <a:xfrm>
            <a:off x="311700" y="273875"/>
            <a:ext cx="8520600" cy="42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16">
                <a:solidFill>
                  <a:schemeClr val="dk1"/>
                </a:solidFill>
              </a:rPr>
              <a:t>Weighted cost</a:t>
            </a:r>
            <a:endParaRPr b="1" sz="231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16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COST_TP = 100 		</a:t>
            </a:r>
            <a:r>
              <a:rPr lang="en" sz="1500">
                <a:solidFill>
                  <a:schemeClr val="dk1"/>
                </a:solidFill>
              </a:rPr>
              <a:t>⇔ model says fraud (1), actually fraud (1) 	⇒ investigation cost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COST_FP = 150 		</a:t>
            </a:r>
            <a:r>
              <a:rPr lang="en" sz="1500">
                <a:solidFill>
                  <a:schemeClr val="dk1"/>
                </a:solidFill>
              </a:rPr>
              <a:t>⇔ model says fraud (1), actually not fraud (0) ⇒ false alarm cost + reputation damage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COST_TN = 0   </a:t>
            </a:r>
            <a:r>
              <a:rPr lang="en" sz="1500">
                <a:solidFill>
                  <a:schemeClr val="dk1"/>
                </a:solidFill>
              </a:rPr>
              <a:t> 	 	⇔ model says not fraud (0), actually not fraud (0)	⇒ no cost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COST_FN = 0.9 x sum_insured	</a:t>
            </a:r>
            <a:r>
              <a:rPr lang="en" sz="1500">
                <a:solidFill>
                  <a:schemeClr val="dk1"/>
                </a:solidFill>
              </a:rPr>
              <a:t>⇔ model says not fraud (0), actually fraud (1)⇒ missed fraud = pay out 90% of claim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See References B9, B10, B11.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30"/>
          <p:cNvSpPr txBox="1"/>
          <p:nvPr/>
        </p:nvSpPr>
        <p:spPr>
          <a:xfrm>
            <a:off x="311700" y="289450"/>
            <a:ext cx="487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Results - One Shot Training (</a:t>
            </a:r>
            <a:r>
              <a:rPr lang="en" sz="2800"/>
              <a:t>Accuracy based model)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358625" y="870003"/>
            <a:ext cx="3149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Train (45k) and val (20k) from labeled, while Test (10k) from unlabeled set</a:t>
            </a:r>
            <a:endParaRPr>
              <a:solidFill>
                <a:srgbClr val="222222"/>
              </a:solidFill>
            </a:endParaRPr>
          </a:p>
        </p:txBody>
      </p:sp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39725"/>
            <a:ext cx="6431349" cy="312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0"/>
          <p:cNvPicPr preferRelativeResize="0"/>
          <p:nvPr/>
        </p:nvPicPr>
        <p:blipFill rotWithShape="1">
          <a:blip r:embed="rId4">
            <a:alphaModFix/>
          </a:blip>
          <a:srcRect b="0" l="48778" r="0" t="0"/>
          <a:stretch/>
        </p:blipFill>
        <p:spPr>
          <a:xfrm>
            <a:off x="6431350" y="2607075"/>
            <a:ext cx="2712649" cy="199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0"/>
          <p:cNvPicPr preferRelativeResize="0"/>
          <p:nvPr/>
        </p:nvPicPr>
        <p:blipFill rotWithShape="1">
          <a:blip r:embed="rId4">
            <a:alphaModFix/>
          </a:blip>
          <a:srcRect b="0" l="0" r="51277" t="0"/>
          <a:stretch/>
        </p:blipFill>
        <p:spPr>
          <a:xfrm>
            <a:off x="6429788" y="648650"/>
            <a:ext cx="2715770" cy="1993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8113" y="862150"/>
            <a:ext cx="2923225" cy="7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31"/>
          <p:cNvSpPr txBox="1"/>
          <p:nvPr/>
        </p:nvSpPr>
        <p:spPr>
          <a:xfrm>
            <a:off x="311700" y="289450"/>
            <a:ext cx="41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Results - One Shot Training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358625" y="862150"/>
            <a:ext cx="33600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Train (45k) and val (20k) from labeled, while Test (10k) from unlabeled set</a:t>
            </a:r>
            <a:endParaRPr>
              <a:solidFill>
                <a:srgbClr val="222222"/>
              </a:solidFill>
            </a:endParaRPr>
          </a:p>
        </p:txBody>
      </p:sp>
      <p:pic>
        <p:nvPicPr>
          <p:cNvPr id="151" name="Google Shape;151;p31"/>
          <p:cNvPicPr preferRelativeResize="0"/>
          <p:nvPr/>
        </p:nvPicPr>
        <p:blipFill rotWithShape="1">
          <a:blip r:embed="rId3">
            <a:alphaModFix/>
          </a:blip>
          <a:srcRect b="61793" l="4361" r="0" t="0"/>
          <a:stretch/>
        </p:blipFill>
        <p:spPr>
          <a:xfrm>
            <a:off x="4974925" y="463950"/>
            <a:ext cx="3589025" cy="47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1"/>
          <p:cNvSpPr txBox="1"/>
          <p:nvPr/>
        </p:nvSpPr>
        <p:spPr>
          <a:xfrm>
            <a:off x="1576675" y="1448550"/>
            <a:ext cx="266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800">
                <a:solidFill>
                  <a:srgbClr val="222222"/>
                </a:solidFill>
              </a:rPr>
              <a:t>Accuracy based models</a:t>
            </a:r>
            <a:endParaRPr sz="1800">
              <a:solidFill>
                <a:srgbClr val="222222"/>
              </a:solidFill>
            </a:endParaRPr>
          </a:p>
        </p:txBody>
      </p:sp>
      <p:pic>
        <p:nvPicPr>
          <p:cNvPr id="153" name="Google Shape;153;p31"/>
          <p:cNvPicPr preferRelativeResize="0"/>
          <p:nvPr/>
        </p:nvPicPr>
        <p:blipFill rotWithShape="1">
          <a:blip r:embed="rId4">
            <a:alphaModFix/>
          </a:blip>
          <a:srcRect b="32442" l="0" r="0" t="0"/>
          <a:stretch/>
        </p:blipFill>
        <p:spPr>
          <a:xfrm>
            <a:off x="311700" y="1773429"/>
            <a:ext cx="5539876" cy="328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1"/>
          <p:cNvPicPr preferRelativeResize="0"/>
          <p:nvPr/>
        </p:nvPicPr>
        <p:blipFill rotWithShape="1">
          <a:blip r:embed="rId4">
            <a:alphaModFix/>
          </a:blip>
          <a:srcRect b="0" l="37159" r="37443" t="66725"/>
          <a:stretch/>
        </p:blipFill>
        <p:spPr>
          <a:xfrm>
            <a:off x="7636150" y="1978400"/>
            <a:ext cx="1280751" cy="14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1"/>
          <p:cNvPicPr preferRelativeResize="0"/>
          <p:nvPr/>
        </p:nvPicPr>
        <p:blipFill rotWithShape="1">
          <a:blip r:embed="rId4">
            <a:alphaModFix/>
          </a:blip>
          <a:srcRect b="0" l="76368" r="0" t="66725"/>
          <a:stretch/>
        </p:blipFill>
        <p:spPr>
          <a:xfrm>
            <a:off x="6332776" y="3510350"/>
            <a:ext cx="1115025" cy="137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1"/>
          <p:cNvPicPr preferRelativeResize="0"/>
          <p:nvPr/>
        </p:nvPicPr>
        <p:blipFill rotWithShape="1">
          <a:blip r:embed="rId4">
            <a:alphaModFix/>
          </a:blip>
          <a:srcRect b="0" l="0" r="71782" t="66725"/>
          <a:stretch/>
        </p:blipFill>
        <p:spPr>
          <a:xfrm>
            <a:off x="6238825" y="1978400"/>
            <a:ext cx="1397326" cy="144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1"/>
          <p:cNvPicPr preferRelativeResize="0"/>
          <p:nvPr/>
        </p:nvPicPr>
        <p:blipFill rotWithShape="1">
          <a:blip r:embed="rId3">
            <a:alphaModFix/>
          </a:blip>
          <a:srcRect b="0" l="4361" r="0" t="61793"/>
          <a:stretch/>
        </p:blipFill>
        <p:spPr>
          <a:xfrm>
            <a:off x="4974925" y="934475"/>
            <a:ext cx="3589025" cy="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2"/>
          <p:cNvSpPr txBox="1"/>
          <p:nvPr/>
        </p:nvSpPr>
        <p:spPr>
          <a:xfrm>
            <a:off x="358625" y="862150"/>
            <a:ext cx="36363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Train (45k) and val (20k) from labeled, while Test (10k) from </a:t>
            </a:r>
            <a:r>
              <a:rPr lang="en">
                <a:solidFill>
                  <a:srgbClr val="222222"/>
                </a:solidFill>
              </a:rPr>
              <a:t>unlabeled</a:t>
            </a:r>
            <a:r>
              <a:rPr lang="en">
                <a:solidFill>
                  <a:srgbClr val="222222"/>
                </a:solidFill>
              </a:rPr>
              <a:t> set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64" name="Google Shape;164;p32"/>
          <p:cNvSpPr txBox="1"/>
          <p:nvPr/>
        </p:nvSpPr>
        <p:spPr>
          <a:xfrm>
            <a:off x="311700" y="289450"/>
            <a:ext cx="397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Results - One Shot Training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733875" y="2334600"/>
            <a:ext cx="315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800">
                <a:solidFill>
                  <a:srgbClr val="222222"/>
                </a:solidFill>
              </a:rPr>
              <a:t>Financial cost based models</a:t>
            </a:r>
            <a:endParaRPr sz="1800">
              <a:solidFill>
                <a:srgbClr val="222222"/>
              </a:solidFill>
            </a:endParaRPr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900" y="554463"/>
            <a:ext cx="4549200" cy="4034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25" y="2758375"/>
            <a:ext cx="3978299" cy="7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289450"/>
            <a:ext cx="434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Search (baseline) model</a:t>
            </a:r>
            <a:endParaRPr/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4550"/>
            <a:ext cx="5607542" cy="39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/>
          <p:nvPr/>
        </p:nvSpPr>
        <p:spPr>
          <a:xfrm>
            <a:off x="5507700" y="416625"/>
            <a:ext cx="36363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Case 1: Train (45k), val (10k) and test (10k) from labeled set only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9342" y="1128825"/>
            <a:ext cx="3079258" cy="156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9350" y="2852375"/>
            <a:ext cx="30792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Various Active Learning strategies</a:t>
            </a:r>
            <a:endParaRPr/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Cost-Weighted:</a:t>
            </a:r>
            <a:r>
              <a:rPr lang="en" sz="1400">
                <a:solidFill>
                  <a:schemeClr val="dk1"/>
                </a:solidFill>
              </a:rPr>
              <a:t> Selects highly uncertain predictions and scales them by their financial impact (insured amount) to prioritize reviewing costly borderline cases.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Uncertainty:</a:t>
            </a:r>
            <a:r>
              <a:rPr lang="en" sz="1400">
                <a:solidFill>
                  <a:schemeClr val="dk1"/>
                </a:solidFill>
              </a:rPr>
              <a:t> Selects the most ambiguous samples closest to the 50% decision boundary, where the model is least confident.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Diversity (Cluster + Uncertainty):</a:t>
            </a:r>
            <a:r>
              <a:rPr lang="en" sz="1400">
                <a:solidFill>
                  <a:schemeClr val="dk1"/>
                </a:solidFill>
              </a:rPr>
              <a:t> Selects a broad range of hard-to-predict samples by combining the model's uncertainty with spatial distances from K-means clusters to avoid querying redundant data points.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Expected Cost Reduction:</a:t>
            </a:r>
            <a:r>
              <a:rPr lang="en" sz="1400">
                <a:solidFill>
                  <a:schemeClr val="dk1"/>
                </a:solidFill>
              </a:rPr>
              <a:t> Selects samples with the highest potential financial regret by weighing the specific monetary penalties of making a false positive versus a false negative.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idx="12" type="sldNum"/>
          </p:nvPr>
        </p:nvSpPr>
        <p:spPr>
          <a:xfrm>
            <a:off x="8479652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35"/>
          <p:cNvSpPr txBox="1"/>
          <p:nvPr/>
        </p:nvSpPr>
        <p:spPr>
          <a:xfrm>
            <a:off x="0" y="273350"/>
            <a:ext cx="91440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20">
                <a:solidFill>
                  <a:srgbClr val="000000"/>
                </a:solidFill>
              </a:rPr>
              <a:t>AL (various strategies) vs Hybrid AL comparison on Out-of-Sample (OOS) test</a:t>
            </a:r>
            <a:endParaRPr sz="202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20">
              <a:solidFill>
                <a:srgbClr val="FF0000"/>
              </a:solidFill>
            </a:endParaRPr>
          </a:p>
        </p:txBody>
      </p:sp>
      <p:pic>
        <p:nvPicPr>
          <p:cNvPr id="189" name="Google Shape;189;p35"/>
          <p:cNvPicPr preferRelativeResize="0"/>
          <p:nvPr/>
        </p:nvPicPr>
        <p:blipFill rotWithShape="1">
          <a:blip r:embed="rId3">
            <a:alphaModFix/>
          </a:blip>
          <a:srcRect b="7399" l="0" r="0" t="0"/>
          <a:stretch/>
        </p:blipFill>
        <p:spPr>
          <a:xfrm>
            <a:off x="5059156" y="4147525"/>
            <a:ext cx="22860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5"/>
          <p:cNvSpPr txBox="1"/>
          <p:nvPr/>
        </p:nvSpPr>
        <p:spPr>
          <a:xfrm>
            <a:off x="4934956" y="2929838"/>
            <a:ext cx="2430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</a:t>
            </a:r>
            <a:r>
              <a:rPr lang="en" sz="1000"/>
              <a:t>Δ  Hybrid AL  vs  AL (Simple)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AUC          : +0.0007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Business cost: -1,950.00   ✅ cheaper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Recall       : +0.0000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F1           : +0.0009</a:t>
            </a:r>
            <a:endParaRPr sz="1000"/>
          </a:p>
        </p:txBody>
      </p:sp>
      <p:sp>
        <p:nvSpPr>
          <p:cNvPr id="191" name="Google Shape;191;p35"/>
          <p:cNvSpPr txBox="1"/>
          <p:nvPr/>
        </p:nvSpPr>
        <p:spPr>
          <a:xfrm>
            <a:off x="1053356" y="2952300"/>
            <a:ext cx="2430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Δ  Hybrid AL  vs  AL (Cost-Weighted)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AUC          : +0.0012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Business cost: -2,100.00   ✅ cheaper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Recall       : +0.0000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F1           : +0.0010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2" name="Google Shape;192;p35"/>
          <p:cNvSpPr txBox="1"/>
          <p:nvPr/>
        </p:nvSpPr>
        <p:spPr>
          <a:xfrm>
            <a:off x="1053356" y="4102525"/>
            <a:ext cx="2871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Δ  Hybrid AL  vs  AL (Diversity)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AUC          : -0.0002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Business cost: +150.00   ❌ more expensive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Recall       : +0.0000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F1           : +0.0000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93" name="Google Shape;193;p35"/>
          <p:cNvPicPr preferRelativeResize="0"/>
          <p:nvPr/>
        </p:nvPicPr>
        <p:blipFill rotWithShape="1">
          <a:blip r:embed="rId4">
            <a:alphaModFix/>
          </a:blip>
          <a:srcRect b="44641" l="0" r="31215" t="0"/>
          <a:stretch/>
        </p:blipFill>
        <p:spPr>
          <a:xfrm>
            <a:off x="1584123" y="754975"/>
            <a:ext cx="5002150" cy="11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5"/>
          <p:cNvPicPr preferRelativeResize="0"/>
          <p:nvPr/>
        </p:nvPicPr>
        <p:blipFill rotWithShape="1">
          <a:blip r:embed="rId4">
            <a:alphaModFix/>
          </a:blip>
          <a:srcRect b="0" l="0" r="31215" t="66693"/>
          <a:stretch/>
        </p:blipFill>
        <p:spPr>
          <a:xfrm>
            <a:off x="1588126" y="1850925"/>
            <a:ext cx="5002150" cy="678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35"/>
          <p:cNvGraphicFramePr/>
          <p:nvPr/>
        </p:nvGraphicFramePr>
        <p:xfrm>
          <a:off x="1648350" y="25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{8B29CAF8-49E2-445E-BE97-43D1CA31CE4D}</a:tableStyleId>
              </a:tblPr>
              <a:tblGrid>
                <a:gridCol w="1442825"/>
                <a:gridCol w="1169700"/>
                <a:gridCol w="1176725"/>
                <a:gridCol w="1148675"/>
                <a:gridCol w="973600"/>
              </a:tblGrid>
              <a:tr h="30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train_size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45,675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6" name="Google Shape;196;p35"/>
          <p:cNvPicPr preferRelativeResize="0"/>
          <p:nvPr/>
        </p:nvPicPr>
        <p:blipFill rotWithShape="1">
          <a:blip r:embed="rId4">
            <a:alphaModFix/>
          </a:blip>
          <a:srcRect b="44641" l="84866" r="2325" t="0"/>
          <a:stretch/>
        </p:blipFill>
        <p:spPr>
          <a:xfrm>
            <a:off x="6586270" y="753938"/>
            <a:ext cx="931500" cy="11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5"/>
          <p:cNvPicPr preferRelativeResize="0"/>
          <p:nvPr/>
        </p:nvPicPr>
        <p:blipFill rotWithShape="1">
          <a:blip r:embed="rId4">
            <a:alphaModFix/>
          </a:blip>
          <a:srcRect b="0" l="84866" r="2325" t="66693"/>
          <a:stretch/>
        </p:blipFill>
        <p:spPr>
          <a:xfrm>
            <a:off x="6586279" y="1847863"/>
            <a:ext cx="931500" cy="6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5"/>
          <p:cNvSpPr/>
          <p:nvPr/>
        </p:nvSpPr>
        <p:spPr>
          <a:xfrm>
            <a:off x="6258050" y="796575"/>
            <a:ext cx="374100" cy="1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8479652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6"/>
          <p:cNvSpPr txBox="1"/>
          <p:nvPr/>
        </p:nvSpPr>
        <p:spPr>
          <a:xfrm>
            <a:off x="7200" y="0"/>
            <a:ext cx="91440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20">
                <a:solidFill>
                  <a:srgbClr val="000000"/>
                </a:solidFill>
              </a:rPr>
              <a:t>AL (various strategies) vs Hybrid AL comparison on Out-of-Sample (OOS) test</a:t>
            </a:r>
            <a:endParaRPr sz="202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20">
                <a:solidFill>
                  <a:srgbClr val="FF0000"/>
                </a:solidFill>
              </a:rPr>
              <a:t>(</a:t>
            </a:r>
            <a:r>
              <a:rPr b="1" lang="en" sz="2320">
                <a:solidFill>
                  <a:srgbClr val="FF0000"/>
                </a:solidFill>
              </a:rPr>
              <a:t>remove expected cost strategy (it show performance instead of improvement))</a:t>
            </a:r>
            <a:endParaRPr b="1" sz="2320">
              <a:solidFill>
                <a:srgbClr val="FF0000"/>
              </a:solidFill>
            </a:endParaRPr>
          </a:p>
        </p:txBody>
      </p:sp>
      <p:pic>
        <p:nvPicPr>
          <p:cNvPr id="205" name="Google Shape;205;p36"/>
          <p:cNvPicPr preferRelativeResize="0"/>
          <p:nvPr/>
        </p:nvPicPr>
        <p:blipFill rotWithShape="1">
          <a:blip r:embed="rId3">
            <a:alphaModFix/>
          </a:blip>
          <a:srcRect b="7399" l="0" r="0" t="0"/>
          <a:stretch/>
        </p:blipFill>
        <p:spPr>
          <a:xfrm>
            <a:off x="5988344" y="3779150"/>
            <a:ext cx="22860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 txBox="1"/>
          <p:nvPr/>
        </p:nvSpPr>
        <p:spPr>
          <a:xfrm>
            <a:off x="698644" y="3163225"/>
            <a:ext cx="2430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Δ  Hybrid AL  vs  AL (Expected Cost)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AUC          : +0.0003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Business cost: -1,350.00   ✅ cheaper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Recall       : +0.0000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F1           : +0.0006</a:t>
            </a:r>
            <a:endParaRPr sz="1000"/>
          </a:p>
        </p:txBody>
      </p:sp>
      <p:sp>
        <p:nvSpPr>
          <p:cNvPr id="207" name="Google Shape;207;p36"/>
          <p:cNvSpPr txBox="1"/>
          <p:nvPr/>
        </p:nvSpPr>
        <p:spPr>
          <a:xfrm>
            <a:off x="3205094" y="3193475"/>
            <a:ext cx="2430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Δ  Hybrid AL  vs  AL (Simple)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AUC          : +0.0007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Business cost: -1,950.00   ✅ cheaper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Recall       : +0.0000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F1           : +0.0009</a:t>
            </a:r>
            <a:endParaRPr sz="1000"/>
          </a:p>
        </p:txBody>
      </p:sp>
      <p:sp>
        <p:nvSpPr>
          <p:cNvPr id="208" name="Google Shape;208;p36"/>
          <p:cNvSpPr txBox="1"/>
          <p:nvPr/>
        </p:nvSpPr>
        <p:spPr>
          <a:xfrm>
            <a:off x="726244" y="4147775"/>
            <a:ext cx="2430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Δ  Hybrid AL  vs  AL (Cost-Weighted)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AUC          : +0.0012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Business cost: -2,100.00   ✅ cheaper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Recall       : +0.0000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F1           : +0.0010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09" name="Google Shape;209;p36"/>
          <p:cNvSpPr txBox="1"/>
          <p:nvPr/>
        </p:nvSpPr>
        <p:spPr>
          <a:xfrm>
            <a:off x="3205094" y="4189200"/>
            <a:ext cx="2871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Δ  Hybrid AL  vs  AL (Diversity)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AUC          : -0.0002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Business cost: +150.00   ❌ more expensive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Recall       : +0.0000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F1           : +0.0000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10" name="Google Shape;210;p36"/>
          <p:cNvPicPr preferRelativeResize="0"/>
          <p:nvPr/>
        </p:nvPicPr>
        <p:blipFill rotWithShape="1">
          <a:blip r:embed="rId4">
            <a:alphaModFix/>
          </a:blip>
          <a:srcRect b="44641" l="0" r="2325" t="0"/>
          <a:stretch/>
        </p:blipFill>
        <p:spPr>
          <a:xfrm>
            <a:off x="905469" y="1081900"/>
            <a:ext cx="7102851" cy="11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6"/>
          <p:cNvPicPr preferRelativeResize="0"/>
          <p:nvPr/>
        </p:nvPicPr>
        <p:blipFill rotWithShape="1">
          <a:blip r:embed="rId4">
            <a:alphaModFix/>
          </a:blip>
          <a:srcRect b="0" l="0" r="2325" t="66693"/>
          <a:stretch/>
        </p:blipFill>
        <p:spPr>
          <a:xfrm>
            <a:off x="909479" y="2177858"/>
            <a:ext cx="7102851" cy="678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36"/>
          <p:cNvGraphicFramePr/>
          <p:nvPr/>
        </p:nvGraphicFramePr>
        <p:xfrm>
          <a:off x="948119" y="285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{8B29CAF8-49E2-445E-BE97-43D1CA31CE4D}</a:tableStyleId>
              </a:tblPr>
              <a:tblGrid>
                <a:gridCol w="1442825"/>
                <a:gridCol w="1169700"/>
                <a:gridCol w="1176725"/>
                <a:gridCol w="1148675"/>
                <a:gridCol w="1148675"/>
                <a:gridCol w="973600"/>
              </a:tblGrid>
              <a:tr h="30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train_size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46,000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45,675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7"/>
          <p:cNvSpPr txBox="1"/>
          <p:nvPr/>
        </p:nvSpPr>
        <p:spPr>
          <a:xfrm>
            <a:off x="0" y="15240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20">
                <a:solidFill>
                  <a:srgbClr val="000000"/>
                </a:solidFill>
              </a:rPr>
              <a:t>Baseline vs AL vs NSL vs Hybrid AL comparison on Out-of-Sample (OOS) test</a:t>
            </a:r>
            <a:endParaRPr sz="2020">
              <a:solidFill>
                <a:srgbClr val="000000"/>
              </a:solidFill>
            </a:endParaRPr>
          </a:p>
        </p:txBody>
      </p:sp>
      <p:pic>
        <p:nvPicPr>
          <p:cNvPr id="219" name="Google Shape;219;p37"/>
          <p:cNvPicPr preferRelativeResize="0"/>
          <p:nvPr/>
        </p:nvPicPr>
        <p:blipFill rotWithShape="1">
          <a:blip r:embed="rId3">
            <a:alphaModFix/>
          </a:blip>
          <a:srcRect b="49668" l="0" r="0" t="0"/>
          <a:stretch/>
        </p:blipFill>
        <p:spPr>
          <a:xfrm>
            <a:off x="394375" y="637725"/>
            <a:ext cx="8286676" cy="117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7"/>
          <p:cNvSpPr txBox="1"/>
          <p:nvPr/>
        </p:nvSpPr>
        <p:spPr>
          <a:xfrm>
            <a:off x="466000" y="3085513"/>
            <a:ext cx="3542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Δ  Hybrid AL  vs  AL (Expected Cost)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AUC                 : +0.0003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Business cost  : -1,350.00   ✅ cheaper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Recall              : +0.0000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F1                    : +0.0006</a:t>
            </a:r>
            <a:endParaRPr/>
          </a:p>
        </p:txBody>
      </p:sp>
      <p:sp>
        <p:nvSpPr>
          <p:cNvPr id="221" name="Google Shape;221;p37"/>
          <p:cNvSpPr txBox="1"/>
          <p:nvPr/>
        </p:nvSpPr>
        <p:spPr>
          <a:xfrm>
            <a:off x="4008700" y="3126650"/>
            <a:ext cx="344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df_unlabeled total rows           : 30,000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seen rows (union, deduped)    : 2,293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held-out test rows            : 27,707</a:t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 rotWithShape="1">
          <a:blip r:embed="rId3">
            <a:alphaModFix/>
          </a:blip>
          <a:srcRect b="0" l="0" r="0" t="61254"/>
          <a:stretch/>
        </p:blipFill>
        <p:spPr>
          <a:xfrm>
            <a:off x="394375" y="1795103"/>
            <a:ext cx="8286676" cy="9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432900" y="0"/>
            <a:ext cx="2278200" cy="4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28" name="Google Shape;228;p38"/>
          <p:cNvSpPr txBox="1"/>
          <p:nvPr/>
        </p:nvSpPr>
        <p:spPr>
          <a:xfrm>
            <a:off x="3955800" y="566225"/>
            <a:ext cx="5188200" cy="4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</a:rPr>
              <a:t>B] Academic &amp; Industry Sources</a:t>
            </a:r>
            <a:endParaRPr b="1" sz="13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Mordor Intelligence</a:t>
            </a:r>
            <a:r>
              <a:rPr lang="en" sz="1050">
                <a:solidFill>
                  <a:schemeClr val="dk1"/>
                </a:solidFill>
              </a:rPr>
              <a:t> (2024). </a:t>
            </a:r>
            <a:r>
              <a:rPr i="1" lang="en" sz="1050">
                <a:solidFill>
                  <a:schemeClr val="dk1"/>
                </a:solidFill>
              </a:rPr>
              <a:t>UK Home Insurance Market Report</a:t>
            </a:r>
            <a:r>
              <a:rPr lang="en" sz="1050">
                <a:solidFill>
                  <a:schemeClr val="dk1"/>
                </a:solidFill>
              </a:rPr>
              <a:t>.</a:t>
            </a:r>
            <a:r>
              <a:rPr lang="en" sz="105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50" u="sng">
                <a:solidFill>
                  <a:schemeClr val="hlink"/>
                </a:solidFill>
                <a:hlinkClick r:id="rId4"/>
              </a:rPr>
              <a:t>https://www.mordorintelligence.com/industry-reports/uk-home-insurance-market</a:t>
            </a:r>
            <a:endParaRPr sz="1050" u="sng">
              <a:solidFill>
                <a:schemeClr val="hlink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Property type distribution, premium ranges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Mintel</a:t>
            </a:r>
            <a:r>
              <a:rPr lang="en" sz="1050">
                <a:solidFill>
                  <a:schemeClr val="dk1"/>
                </a:solidFill>
              </a:rPr>
              <a:t> (2024). </a:t>
            </a:r>
            <a:r>
              <a:rPr i="1" lang="en" sz="1050">
                <a:solidFill>
                  <a:schemeClr val="dk1"/>
                </a:solidFill>
              </a:rPr>
              <a:t>UK Home Insurance Market Report 2024</a:t>
            </a:r>
            <a:r>
              <a:rPr lang="en" sz="1050">
                <a:solidFill>
                  <a:schemeClr val="dk1"/>
                </a:solidFill>
              </a:rPr>
              <a:t>.</a:t>
            </a:r>
            <a:r>
              <a:rPr lang="en" sz="105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50" u="sng">
                <a:solidFill>
                  <a:schemeClr val="hlink"/>
                </a:solidFill>
                <a:hlinkClick r:id="rId6"/>
              </a:rPr>
              <a:t>https://store.mintel.com/report/uk-home-insurance-market-report-2024</a:t>
            </a:r>
            <a:endParaRPr sz="1050" u="sng">
              <a:solidFill>
                <a:schemeClr val="hlink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Market size (£9.4B forecast), ownership rates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GlobalData</a:t>
            </a:r>
            <a:r>
              <a:rPr lang="en" sz="1050">
                <a:solidFill>
                  <a:schemeClr val="dk1"/>
                </a:solidFill>
              </a:rPr>
              <a:t> (2024). </a:t>
            </a:r>
            <a:r>
              <a:rPr i="1" lang="en" sz="1050">
                <a:solidFill>
                  <a:schemeClr val="dk1"/>
                </a:solidFill>
              </a:rPr>
              <a:t>UK Household Insurance Market Dynamics</a:t>
            </a:r>
            <a:r>
              <a:rPr lang="en" sz="1050">
                <a:solidFill>
                  <a:schemeClr val="dk1"/>
                </a:solidFill>
              </a:rPr>
              <a:t>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GWP growth, premium inflation, claims landscape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Confused.com</a:t>
            </a:r>
            <a:r>
              <a:rPr lang="en" sz="1050">
                <a:solidFill>
                  <a:schemeClr val="dk1"/>
                </a:solidFill>
              </a:rPr>
              <a:t> (2024). </a:t>
            </a:r>
            <a:r>
              <a:rPr i="1" lang="en" sz="1050">
                <a:solidFill>
                  <a:schemeClr val="dk1"/>
                </a:solidFill>
              </a:rPr>
              <a:t>UK Home Insurance Statistics</a:t>
            </a:r>
            <a:r>
              <a:rPr lang="en" sz="1050">
                <a:solidFill>
                  <a:schemeClr val="dk1"/>
                </a:solidFill>
              </a:rPr>
              <a:t>.</a:t>
            </a:r>
            <a:r>
              <a:rPr lang="en" sz="105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50" u="sng">
                <a:solidFill>
                  <a:schemeClr val="hlink"/>
                </a:solidFill>
                <a:hlinkClick r:id="rId8"/>
              </a:rPr>
              <a:t>https://www.confused.com/home-insurance/home-insurance-statistics</a:t>
            </a:r>
            <a:endParaRPr sz="1050" u="sng">
              <a:solidFill>
                <a:schemeClr val="hlink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Average premiums (£396), claim frequencies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Uswitch</a:t>
            </a:r>
            <a:r>
              <a:rPr lang="en" sz="1050">
                <a:solidFill>
                  <a:schemeClr val="dk1"/>
                </a:solidFill>
              </a:rPr>
              <a:t> (2025). </a:t>
            </a:r>
            <a:r>
              <a:rPr i="1" lang="en" sz="1050">
                <a:solidFill>
                  <a:schemeClr val="dk1"/>
                </a:solidFill>
              </a:rPr>
              <a:t>Home Insurance Statistics</a:t>
            </a:r>
            <a:r>
              <a:rPr lang="en" sz="1050">
                <a:solidFill>
                  <a:schemeClr val="dk1"/>
                </a:solidFill>
              </a:rPr>
              <a:t>.</a:t>
            </a:r>
            <a:r>
              <a:rPr lang="en" sz="105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50" u="sng">
                <a:solidFill>
                  <a:schemeClr val="hlink"/>
                </a:solidFill>
                <a:hlinkClick r:id="rId10"/>
              </a:rPr>
              <a:t>https://www.uswitch.com/home-insurance/studies/home-insurance-statistics-uk/</a:t>
            </a:r>
            <a:endParaRPr sz="1050" u="sng">
              <a:solidFill>
                <a:schemeClr val="hlink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Weather claims (£585M), regional variations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Association of British Insurers (ABI)</a:t>
            </a:r>
            <a:r>
              <a:rPr lang="en" sz="1050">
                <a:solidFill>
                  <a:schemeClr val="dk1"/>
                </a:solidFill>
              </a:rPr>
              <a:t> (2024). </a:t>
            </a:r>
            <a:r>
              <a:rPr i="1" lang="en" sz="1050">
                <a:solidFill>
                  <a:schemeClr val="dk1"/>
                </a:solidFill>
              </a:rPr>
              <a:t>Insurance Fraud Statistics</a:t>
            </a:r>
            <a:r>
              <a:rPr lang="en" sz="1050">
                <a:solidFill>
                  <a:schemeClr val="dk1"/>
                </a:solidFill>
              </a:rPr>
              <a:t>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10-15% fraud rate benchmark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Office for National Statistics (ONS)</a:t>
            </a:r>
            <a:r>
              <a:rPr lang="en" sz="1050">
                <a:solidFill>
                  <a:schemeClr val="dk1"/>
                </a:solidFill>
              </a:rPr>
              <a:t> (2021). </a:t>
            </a:r>
            <a:r>
              <a:rPr i="1" lang="en" sz="1050">
                <a:solidFill>
                  <a:schemeClr val="dk1"/>
                </a:solidFill>
              </a:rPr>
              <a:t>UK Census - Housing Stock</a:t>
            </a:r>
            <a:r>
              <a:rPr lang="en" sz="1050">
                <a:solidFill>
                  <a:schemeClr val="dk1"/>
                </a:solidFill>
              </a:rPr>
              <a:t>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Property age distribution, urban/rural split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n" sz="1050">
                <a:solidFill>
                  <a:schemeClr val="dk1"/>
                </a:solidFill>
              </a:rPr>
              <a:t>English Housing Survey</a:t>
            </a:r>
            <a:r>
              <a:rPr lang="en" sz="1050">
                <a:solidFill>
                  <a:schemeClr val="dk1"/>
                </a:solidFill>
              </a:rPr>
              <a:t> (2023). </a:t>
            </a:r>
            <a:r>
              <a:rPr i="1" lang="en" sz="1050">
                <a:solidFill>
                  <a:schemeClr val="dk1"/>
                </a:solidFill>
              </a:rPr>
              <a:t>Housing Stock Report</a:t>
            </a:r>
            <a:r>
              <a:rPr lang="en" sz="1050">
                <a:solidFill>
                  <a:schemeClr val="dk1"/>
                </a:solidFill>
              </a:rPr>
              <a:t>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Property condition, age bands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 u="sng">
                <a:solidFill>
                  <a:schemeClr val="hlink"/>
                </a:solidFill>
                <a:hlinkClick r:id="rId11"/>
              </a:rPr>
              <a:t>Economic and social cost of fraud 2023 to 2024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 u="sng">
                <a:solidFill>
                  <a:schemeClr val="hlink"/>
                </a:solidFill>
                <a:hlinkClick r:id="rId12"/>
              </a:rPr>
              <a:t>Uncovering the real cost of fraud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" sz="1050" u="sng">
                <a:solidFill>
                  <a:schemeClr val="hlink"/>
                </a:solidFill>
                <a:hlinkClick r:id="rId13"/>
              </a:rPr>
              <a:t>Insurance Fraud Taskforce: interim report</a:t>
            </a:r>
            <a:endParaRPr sz="1050">
              <a:solidFill>
                <a:schemeClr val="dk2"/>
              </a:solidFill>
            </a:endParaRPr>
          </a:p>
        </p:txBody>
      </p:sp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3644100" cy="3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370"/>
              <a:t>A] UK Data Sources Used</a:t>
            </a:r>
            <a:endParaRPr b="1" sz="1370"/>
          </a:p>
          <a:p>
            <a:pPr indent="-282575" lvl="0" marL="457200" rtl="0" algn="l">
              <a:spcBef>
                <a:spcPts val="1200"/>
              </a:spcBef>
              <a:spcAft>
                <a:spcPts val="0"/>
              </a:spcAft>
              <a:buSzPts val="850"/>
              <a:buAutoNum type="arabicPeriod"/>
            </a:pPr>
            <a:r>
              <a:rPr b="1" lang="en" sz="950"/>
              <a:t>Population, Occupatio</a:t>
            </a:r>
            <a:r>
              <a:rPr b="1" lang="en" sz="1050"/>
              <a:t>n, Housing:</a:t>
            </a:r>
            <a:endParaRPr b="1"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ONS Labour Force Survey</a:t>
            </a:r>
            <a:endParaRPr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UK Housing Survey 2023</a:t>
            </a:r>
            <a:endParaRPr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Gov.uk English Housing Data</a:t>
            </a:r>
            <a:endParaRPr sz="1050"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b="1" lang="en" sz="1050"/>
              <a:t>Risk Maps:</a:t>
            </a:r>
            <a:endParaRPr b="1"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Environment Agency Flood Risk Map</a:t>
            </a:r>
            <a:endParaRPr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Met Office Severe Weather Patterns</a:t>
            </a:r>
            <a:endParaRPr sz="1050"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 </a:t>
            </a:r>
            <a:r>
              <a:rPr b="1" lang="en" sz="1050"/>
              <a:t>Insurance Market:</a:t>
            </a:r>
            <a:endParaRPr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Association of British Insurers (ABI) Home Insurance Report</a:t>
            </a:r>
            <a:endParaRPr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Insurance Fraud Bureau (IFB) Fraud Typology</a:t>
            </a:r>
            <a:endParaRPr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FCA Household Insurance Market Analytics </a:t>
            </a:r>
            <a:endParaRPr sz="1050"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b="1" lang="en" sz="1050"/>
              <a:t>Payment Behaviour:</a:t>
            </a:r>
            <a:endParaRPr b="1" sz="1050"/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n" sz="1050"/>
              <a:t>Experian UK Financial Wellness Index</a:t>
            </a:r>
            <a:endParaRPr sz="1050"/>
          </a:p>
          <a:p>
            <a:pPr indent="-282575" lvl="1" marL="914400" rtl="0" algn="l">
              <a:spcBef>
                <a:spcPts val="0"/>
              </a:spcBef>
              <a:spcAft>
                <a:spcPts val="0"/>
              </a:spcAft>
              <a:buSzPts val="850"/>
              <a:buAutoNum type="arabicPeriod"/>
            </a:pPr>
            <a:r>
              <a:rPr lang="en" sz="1050"/>
              <a:t>FCA Consume</a:t>
            </a:r>
            <a:r>
              <a:rPr lang="en" sz="950"/>
              <a:t>r Risk Survey</a:t>
            </a:r>
            <a:endParaRPr sz="95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170"/>
          </a:p>
        </p:txBody>
      </p:sp>
      <p:sp>
        <p:nvSpPr>
          <p:cNvPr id="230" name="Google Shape;230;p38"/>
          <p:cNvSpPr txBox="1"/>
          <p:nvPr>
            <p:ph type="title"/>
          </p:nvPr>
        </p:nvSpPr>
        <p:spPr>
          <a:xfrm>
            <a:off x="69275" y="3812525"/>
            <a:ext cx="3886500" cy="12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/>
              <a:t>C] Regulatory &amp; Government Sources</a:t>
            </a:r>
            <a:endParaRPr b="1" sz="1350"/>
          </a:p>
          <a:p>
            <a:pPr indent="-288925" lvl="0" marL="457200" rtl="0" algn="l">
              <a:spcBef>
                <a:spcPts val="1200"/>
              </a:spcBef>
              <a:spcAft>
                <a:spcPts val="0"/>
              </a:spcAft>
              <a:buSzPts val="950"/>
              <a:buAutoNum type="arabicPeriod"/>
            </a:pPr>
            <a:r>
              <a:rPr b="1" lang="en" sz="950"/>
              <a:t>Financial Conduct Authority (FCA)</a:t>
            </a:r>
            <a:r>
              <a:rPr lang="en" sz="950"/>
              <a:t> (2024). </a:t>
            </a:r>
            <a:r>
              <a:rPr i="1" lang="en" sz="950"/>
              <a:t>Home Insurance Pricing Practices</a:t>
            </a:r>
            <a:r>
              <a:rPr lang="en" sz="950"/>
              <a:t>.</a:t>
            </a:r>
            <a:endParaRPr sz="950"/>
          </a:p>
          <a:p>
            <a:pPr indent="-288925" lvl="1" marL="914400" rtl="0" algn="l">
              <a:spcBef>
                <a:spcPts val="0"/>
              </a:spcBef>
              <a:spcAft>
                <a:spcPts val="0"/>
              </a:spcAft>
              <a:buSzPts val="950"/>
              <a:buAutoNum type="arabicPeriod"/>
            </a:pPr>
            <a:r>
              <a:rPr lang="en" sz="950"/>
              <a:t>Auto-renewal regulations, price walking reforms</a:t>
            </a:r>
            <a:endParaRPr sz="950"/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SzPts val="950"/>
              <a:buAutoNum type="arabicPeriod"/>
            </a:pPr>
            <a:r>
              <a:rPr b="1" lang="en" sz="950"/>
              <a:t>Environment Agency</a:t>
            </a:r>
            <a:r>
              <a:rPr lang="en" sz="950"/>
              <a:t> (2024). </a:t>
            </a:r>
            <a:r>
              <a:rPr i="1" lang="en" sz="950"/>
              <a:t>Flood Risk Assessment</a:t>
            </a:r>
            <a:r>
              <a:rPr lang="en" sz="950"/>
              <a:t>.</a:t>
            </a:r>
            <a:endParaRPr sz="950"/>
          </a:p>
          <a:p>
            <a:pPr indent="-288925" lvl="1" marL="914400" rtl="0" algn="l">
              <a:spcBef>
                <a:spcPts val="0"/>
              </a:spcBef>
              <a:spcAft>
                <a:spcPts val="0"/>
              </a:spcAft>
              <a:buSzPts val="950"/>
              <a:buAutoNum type="arabicPeriod"/>
            </a:pPr>
            <a:r>
              <a:rPr lang="en" sz="950"/>
              <a:t>10% of English homes in flood zones</a:t>
            </a:r>
            <a:endParaRPr b="1" sz="147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Analyze performance of neural networks in comparison to AL.</a:t>
            </a:r>
            <a:endParaRPr>
              <a:solidFill>
                <a:srgbClr val="22222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-"/>
            </a:pPr>
            <a:r>
              <a:rPr lang="en">
                <a:solidFill>
                  <a:srgbClr val="222222"/>
                </a:solidFill>
              </a:rPr>
              <a:t>Weighted </a:t>
            </a:r>
            <a:r>
              <a:rPr lang="en">
                <a:solidFill>
                  <a:srgbClr val="222222"/>
                </a:solidFill>
              </a:rPr>
              <a:t>average</a:t>
            </a:r>
            <a:r>
              <a:rPr lang="en">
                <a:solidFill>
                  <a:srgbClr val="222222"/>
                </a:solidFill>
              </a:rPr>
              <a:t> of Financial cost and accuracy for a new loss function taking into account both the </a:t>
            </a:r>
            <a:r>
              <a:rPr lang="en">
                <a:solidFill>
                  <a:srgbClr val="222222"/>
                </a:solidFill>
              </a:rPr>
              <a:t>aspects</a:t>
            </a:r>
            <a:r>
              <a:rPr lang="en">
                <a:solidFill>
                  <a:srgbClr val="222222"/>
                </a:solidFill>
              </a:rPr>
              <a:t>.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242" name="Google Shape;24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41"/>
          <p:cNvSpPr txBox="1"/>
          <p:nvPr/>
        </p:nvSpPr>
        <p:spPr>
          <a:xfrm>
            <a:off x="892650" y="530425"/>
            <a:ext cx="7358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Cost-Weighted:</a:t>
            </a:r>
            <a:r>
              <a:rPr lang="en" sz="1100">
                <a:solidFill>
                  <a:schemeClr val="dk1"/>
                </a:solidFill>
              </a:rPr>
              <a:t> Selects highly uncertain predictions and scales them by their financial impact (insured amount) to prioritize reviewing costly borderline cases.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Uncertainty:</a:t>
            </a:r>
            <a:r>
              <a:rPr lang="en" sz="1100">
                <a:solidFill>
                  <a:schemeClr val="dk1"/>
                </a:solidFill>
              </a:rPr>
              <a:t> Selects the most ambiguous samples closest to the 50% decision boundary, where the model is least confident.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Diversity (Cluster + Uncertainty):</a:t>
            </a:r>
            <a:r>
              <a:rPr lang="en" sz="1100">
                <a:solidFill>
                  <a:schemeClr val="dk1"/>
                </a:solidFill>
              </a:rPr>
              <a:t> Selects a broad range of hard-to-predict samples by combining the model's uncertainty with spatial distances from K-means clusters to avoid querying redundant data points.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Expected Cost Reduction:</a:t>
            </a:r>
            <a:r>
              <a:rPr lang="en" sz="1100">
                <a:solidFill>
                  <a:schemeClr val="dk1"/>
                </a:solidFill>
              </a:rPr>
              <a:t> Selects samples with the highest potential financial regret by weighing the specific monetary penalties of making a false positive versus a false negative.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